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ost Grotesk Light"/>
      <p:regular r:id="rId201314"/>
    </p:embeddedFont>
    <p:embeddedFont>
      <p:font typeface="Host Grotesk"/>
      <p:regular r:id="rId201315"/>
    </p:embeddedFont>
    <p:embeddedFont>
      <p:font typeface="Host Grotesk Medium"/>
      <p:regular r:id="rId201316"/>
    </p:embeddedFont>
    <p:embeddedFont>
      <p:font typeface="Host Grotesk SemiBold"/>
      <p:regular r:id="rId201317"/>
    </p:embeddedFont>
    <p:embeddedFont>
      <p:font typeface="Host Grotesk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E9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E9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632200"/>
            <a:ext cx="7619809" cy="2955925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90575" y="3937000"/>
            <a:ext cx="746741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IMAGE CLASSIFICATION · PROJECT VIVA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90575" y="4319191"/>
            <a:ext cx="6857828" cy="1080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800" spc="-19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IndiSign: recognizing hand-sign letters with a CNN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990575" y="5715992"/>
            <a:ext cx="6857828" cy="12601"/>
          </a:xfrm>
          <a:prstGeom prst="roundRect">
            <a:avLst>
              <a:gd name="adj" fmla="val 49998"/>
            </a:avLst>
          </a:prstGeom>
          <a:solidFill>
            <a:srgbClr val="57646F"/>
          </a:solidFill>
          <a:ln/>
        </p:spPr>
      </p:sp>
      <p:sp>
        <p:nvSpPr>
          <p:cNvPr id="6" name="Text 4"/>
          <p:cNvSpPr/>
          <p:nvPr/>
        </p:nvSpPr>
        <p:spPr>
          <a:xfrm>
            <a:off x="990575" y="6019205"/>
            <a:ext cx="7467413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26" kern="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From raw sign photos to a tested prediction pipeline.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03998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01 · THE TASK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5430404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The project turns a hand photo into a letter prediction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2211784"/>
            <a:ext cx="5430305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565797"/>
            <a:ext cx="5430404" cy="1186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9000"/>
              </a:lnSpc>
              <a:spcAft>
                <a:spcPts val="1850"/>
              </a:spcAft>
              <a:buNone/>
            </a:pPr>
            <a:r>
              <a:rPr lang="en-US" sz="16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Goal:</a:t>
            </a:r>
            <a:pPr algn="l" indent="0" marL="0">
              <a:lnSpc>
                <a:spcPct val="129000"/>
              </a:lnSpc>
              <a:spcAft>
                <a:spcPts val="1850"/>
              </a:spcAft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predict which letter a hand-sign photo represents.</a:t>
            </a:r>
            <a:endParaRPr lang="en-US" sz="16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Two project goals: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build image preprocessing and a model that predicts the sign.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4206974"/>
            <a:ext cx="1708504" cy="2041426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4529" y="4441924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44529" y="4828084"/>
            <a:ext cx="1238616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9" name="Text 7"/>
          <p:cNvSpPr/>
          <p:nvPr/>
        </p:nvSpPr>
        <p:spPr>
          <a:xfrm>
            <a:off x="844529" y="4948734"/>
            <a:ext cx="123861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Input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4529" y="5462389"/>
            <a:ext cx="1473560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Hand photo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70485" y="4206974"/>
            <a:ext cx="1708504" cy="2041426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05429" y="4441924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705429" y="4828084"/>
            <a:ext cx="1238616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14" name="Text 12"/>
          <p:cNvSpPr/>
          <p:nvPr/>
        </p:nvSpPr>
        <p:spPr>
          <a:xfrm>
            <a:off x="2705429" y="4948734"/>
            <a:ext cx="123861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Model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05429" y="5462389"/>
            <a:ext cx="1238616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CNN learns patterns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31385" y="4206974"/>
            <a:ext cx="1708504" cy="2041426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6330" y="4441924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566330" y="4828084"/>
            <a:ext cx="1238616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19" name="Text 17"/>
          <p:cNvSpPr/>
          <p:nvPr/>
        </p:nvSpPr>
        <p:spPr>
          <a:xfrm>
            <a:off x="4566330" y="4948734"/>
            <a:ext cx="123861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Output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66330" y="5462389"/>
            <a:ext cx="1238616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Letter prediction</a:t>
            </a:r>
            <a:endParaRPr lang="en-US" sz="14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6663" y="0"/>
            <a:ext cx="5085032" cy="68580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09585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02 ·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The dataset contains 4,972 images across 24 sign classes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34344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037556"/>
            <a:ext cx="3002185" cy="15206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266156"/>
            <a:ext cx="2544996" cy="521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spc="-38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4,972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38179" y="3054052"/>
            <a:ext cx="2773591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images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16562" y="2037556"/>
            <a:ext cx="3002284" cy="15206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145156" y="2266156"/>
            <a:ext cx="2545096" cy="521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spc="-38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24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145156" y="3054052"/>
            <a:ext cx="2773690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sign classes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585" y="3713758"/>
            <a:ext cx="6309262" cy="1885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Folders such as A, B, C become numeric labels for model training.</a:t>
            </a:r>
            <a:endParaRPr lang="en-US" sz="1600" dirty="0"/>
          </a:p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Integrity:</a:t>
            </a:r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every image is opened and verified; no corrupt files are reported.</a:t>
            </a:r>
            <a:endParaRPr lang="en-US" sz="16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Balance: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class counts range from H with 116 images to B with 259, a 2.23:1 imbalance ratio.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5936" y="2037556"/>
            <a:ext cx="4063898" cy="222418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03 ·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Preprocessing makes every image comparable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85144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139156"/>
            <a:ext cx="11582110" cy="373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9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One repeatable transformation turns varied photos into model-ready tensors.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09585" y="3183434"/>
            <a:ext cx="2514537" cy="3064966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4529" y="3418384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44529" y="3804543"/>
            <a:ext cx="2044649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9" name="Text 7"/>
          <p:cNvSpPr/>
          <p:nvPr/>
        </p:nvSpPr>
        <p:spPr>
          <a:xfrm>
            <a:off x="844529" y="3925193"/>
            <a:ext cx="204464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Convert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4529" y="4438848"/>
            <a:ext cx="2044649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Convert each image to RGB.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28914" y="3183434"/>
            <a:ext cx="2514537" cy="3064966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63858" y="3418384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663858" y="3804543"/>
            <a:ext cx="2044649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14" name="Text 12"/>
          <p:cNvSpPr/>
          <p:nvPr/>
        </p:nvSpPr>
        <p:spPr>
          <a:xfrm>
            <a:off x="3663858" y="3925193"/>
            <a:ext cx="204464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Resize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63858" y="4438848"/>
            <a:ext cx="2044649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Resize it to 128 × 128 pixels.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48244" y="3183434"/>
            <a:ext cx="2514537" cy="3064966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3188" y="3418384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483188" y="3804543"/>
            <a:ext cx="2044649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19" name="Text 17"/>
          <p:cNvSpPr/>
          <p:nvPr/>
        </p:nvSpPr>
        <p:spPr>
          <a:xfrm>
            <a:off x="6483188" y="3925193"/>
            <a:ext cx="204464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Normalize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83188" y="4438848"/>
            <a:ext cx="2044649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Normalize pixel values from 0–255 to 0–1.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067573" y="3183434"/>
            <a:ext cx="2514537" cy="3064966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02517" y="3418384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302517" y="3804543"/>
            <a:ext cx="2044649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24" name="Text 22"/>
          <p:cNvSpPr/>
          <p:nvPr/>
        </p:nvSpPr>
        <p:spPr>
          <a:xfrm>
            <a:off x="9302517" y="3925193"/>
            <a:ext cx="204464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Store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302517" y="4438848"/>
            <a:ext cx="2044649" cy="1574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Store images as X with shape (images, 128, 128, 3), labels as y, and original paths for traceability.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04 · EVALUATION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Stratified splitting protects the evaluation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34344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037556"/>
            <a:ext cx="3454314" cy="233233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266156"/>
            <a:ext cx="2997125" cy="576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spc="-42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70%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38179" y="2997795"/>
            <a:ext cx="299712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79" y="3511451"/>
            <a:ext cx="3225719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Learn visual patterns.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68691" y="2037556"/>
            <a:ext cx="3454314" cy="2332335"/>
          </a:xfrm>
          <a:prstGeom prst="rect">
            <a:avLst/>
          </a:prstGeom>
          <a:solidFill>
            <a:srgbClr val="1467C2"/>
          </a:solidFill>
          <a:ln/>
        </p:spPr>
      </p:sp>
      <p:sp>
        <p:nvSpPr>
          <p:cNvPr id="10" name="Text 8"/>
          <p:cNvSpPr/>
          <p:nvPr/>
        </p:nvSpPr>
        <p:spPr>
          <a:xfrm>
            <a:off x="4597285" y="2266156"/>
            <a:ext cx="2997125" cy="576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spc="-42" kern="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15%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597285" y="2997795"/>
            <a:ext cx="299712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Validation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97285" y="3511451"/>
            <a:ext cx="2997125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Guide tuning and model selection.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7797" y="2037556"/>
            <a:ext cx="3454314" cy="233233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356391" y="2266156"/>
            <a:ext cx="2997125" cy="576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spc="-42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15%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356391" y="2997795"/>
            <a:ext cx="299712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Test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56391" y="3511451"/>
            <a:ext cx="3225719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Final held-out estimate.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585" y="4611191"/>
            <a:ext cx="5333867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Stratification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keeps each sign represented in the same proportions.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48244" y="4611191"/>
            <a:ext cx="5333867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Class weights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give rarer signs more influence during training.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05 · AUGMENTATION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Augmentation adds variation without changing the 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34344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037556"/>
            <a:ext cx="1158211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Training images receive random rotation, shifts, and zoom.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2593777"/>
            <a:ext cx="3454314" cy="1805285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4529" y="2828727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44529" y="3214886"/>
            <a:ext cx="2984326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9" name="Text 7"/>
          <p:cNvSpPr/>
          <p:nvPr/>
        </p:nvSpPr>
        <p:spPr>
          <a:xfrm>
            <a:off x="844529" y="3335536"/>
            <a:ext cx="298442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Rotate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4529" y="3849191"/>
            <a:ext cx="3219369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Adds angle variation.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68691" y="2593777"/>
            <a:ext cx="3454314" cy="1805285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3635" y="2828727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603635" y="3214886"/>
            <a:ext cx="2984326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14" name="Text 12"/>
          <p:cNvSpPr/>
          <p:nvPr/>
        </p:nvSpPr>
        <p:spPr>
          <a:xfrm>
            <a:off x="4603635" y="3335536"/>
            <a:ext cx="298442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Shift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03635" y="3849191"/>
            <a:ext cx="3219369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Changes position.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7797" y="2593777"/>
            <a:ext cx="3454314" cy="1805285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2741" y="2828727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362741" y="3214886"/>
            <a:ext cx="2984326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19" name="Text 17"/>
          <p:cNvSpPr/>
          <p:nvPr/>
        </p:nvSpPr>
        <p:spPr>
          <a:xfrm>
            <a:off x="8362741" y="3335536"/>
            <a:ext cx="298442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Zoom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62741" y="3849191"/>
            <a:ext cx="3219369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Changes framing.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585" y="4640362"/>
            <a:ext cx="1158211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No flip: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Flipping is intentionally excluded because a mirrored hand may not represent the same valid sign.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585" y="5196582"/>
            <a:ext cx="10972526" cy="747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9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Result:</a:t>
            </a:r>
            <a:pPr algn="l" indent="0" marL="0">
              <a:lnSpc>
                <a:spcPct val="129000"/>
              </a:lnSpc>
              <a:buNone/>
            </a:pPr>
            <a:r>
              <a:rPr lang="en-US" sz="19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the model is trained for changes in angle, position, and framing rather than memorizing one pose.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06 ·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The baseline CNN learns from edges to finger patterns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85144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139156"/>
            <a:ext cx="2514537" cy="3064966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4529" y="2374106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44529" y="2760266"/>
            <a:ext cx="2044649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8" name="Text 6"/>
          <p:cNvSpPr/>
          <p:nvPr/>
        </p:nvSpPr>
        <p:spPr>
          <a:xfrm>
            <a:off x="844529" y="2880916"/>
            <a:ext cx="204464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Input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4529" y="3394571"/>
            <a:ext cx="2044649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Augmented 128 × 128 RGB image.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28914" y="2139156"/>
            <a:ext cx="2514537" cy="3064966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3858" y="2374106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663858" y="2760266"/>
            <a:ext cx="2044649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13" name="Text 11"/>
          <p:cNvSpPr/>
          <p:nvPr/>
        </p:nvSpPr>
        <p:spPr>
          <a:xfrm>
            <a:off x="3663858" y="2880916"/>
            <a:ext cx="204464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Feature extraction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63858" y="3394571"/>
            <a:ext cx="2044649" cy="1574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Three Conv2D + MaxPooling rounds move from edges to shapes to finger patterns.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48244" y="2139156"/>
            <a:ext cx="2514537" cy="3064966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83188" y="2374106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483188" y="2760266"/>
            <a:ext cx="2044649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18" name="Text 16"/>
          <p:cNvSpPr/>
          <p:nvPr/>
        </p:nvSpPr>
        <p:spPr>
          <a:xfrm>
            <a:off x="6483188" y="2880916"/>
            <a:ext cx="204464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Decision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83188" y="3394571"/>
            <a:ext cx="2044649" cy="1259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Flatten → Dense(128) → Dropout(0.5) → Softmax with 24 outputs.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067573" y="2139156"/>
            <a:ext cx="2514537" cy="3064966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2517" y="2374106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302517" y="2760266"/>
            <a:ext cx="2044649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23" name="Text 21"/>
          <p:cNvSpPr/>
          <p:nvPr/>
        </p:nvSpPr>
        <p:spPr>
          <a:xfrm>
            <a:off x="9302517" y="2880916"/>
            <a:ext cx="204464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Training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02517" y="3394571"/>
            <a:ext cx="2044649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Adam optimizer with sparse categorical cross-entropy.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9585" y="5836940"/>
            <a:ext cx="3555911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spc="-30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Edges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317892" y="5836940"/>
            <a:ext cx="3555911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spc="-30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Shapes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026199" y="5836940"/>
            <a:ext cx="3555911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spc="-30" kern="0" dirty="0">
                <a:solidFill>
                  <a:srgbClr val="3E4B56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Fingers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07 · TRAINING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Training controls overfitting and keeps the best checkpoint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85144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497138"/>
            <a:ext cx="3454314" cy="2435126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4529" y="2732088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44529" y="3118247"/>
            <a:ext cx="2984326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8" name="Text 6"/>
          <p:cNvSpPr/>
          <p:nvPr/>
        </p:nvSpPr>
        <p:spPr>
          <a:xfrm>
            <a:off x="844529" y="3238897"/>
            <a:ext cx="298442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Monitor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4529" y="3752552"/>
            <a:ext cx="2984425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Early stopping halts training when validation loss stops improving.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68691" y="2497138"/>
            <a:ext cx="3454314" cy="2435126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3635" y="2732088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603635" y="3118247"/>
            <a:ext cx="2984326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13" name="Text 11"/>
          <p:cNvSpPr/>
          <p:nvPr/>
        </p:nvSpPr>
        <p:spPr>
          <a:xfrm>
            <a:off x="4603635" y="3238897"/>
            <a:ext cx="298442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Adapt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03635" y="3752552"/>
            <a:ext cx="2984425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ReduceLROnPlateau lowers the learning rate when progress stalls.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7797" y="2497138"/>
            <a:ext cx="3454314" cy="2435126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2741" y="2732088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362741" y="3118247"/>
            <a:ext cx="2984326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18" name="Text 16"/>
          <p:cNvSpPr/>
          <p:nvPr/>
        </p:nvSpPr>
        <p:spPr>
          <a:xfrm>
            <a:off x="8362741" y="3238897"/>
            <a:ext cx="298442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Preserve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62741" y="3752552"/>
            <a:ext cx="2984425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ModelCheckpoint preserves the best version.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585" y="5059263"/>
            <a:ext cx="5333867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48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30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609585" y="5984280"/>
            <a:ext cx="5333867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26" kern="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baseline training cap · epochs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48244" y="5059263"/>
            <a:ext cx="5333867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Best checkpoint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means the final model is the strongest saved version, not simply the last version trained.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08 · HYPERPARAMETER 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Random search tests the choices that matter most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85144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139156"/>
            <a:ext cx="3799785" cy="3278188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4529" y="2374106"/>
            <a:ext cx="356484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SEARCH SPACE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4529" y="2756297"/>
            <a:ext cx="332989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Five choices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44529" y="3341092"/>
            <a:ext cx="3329896" cy="1841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Convolution filters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Dense units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Dropout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Learning rate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Batch size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14063" y="2139156"/>
            <a:ext cx="3281677" cy="3278188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49007" y="2374106"/>
            <a:ext cx="304673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TRADE-OFF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49007" y="2756297"/>
            <a:ext cx="2811789" cy="740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spc="-54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8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949007" y="3652441"/>
            <a:ext cx="2811789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random trials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49007" y="4237236"/>
            <a:ext cx="2811789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Instead of evaluating all 96 combinations.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00433" y="2139156"/>
            <a:ext cx="3281677" cy="3278188"/>
          </a:xfrm>
          <a:prstGeom prst="rect">
            <a:avLst/>
          </a:prstGeom>
          <a:solidFill>
            <a:srgbClr val="1467C2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35377" y="2374106"/>
            <a:ext cx="304673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SELECTION RULE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35377" y="2756297"/>
            <a:ext cx="2811789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Validation accuracy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535377" y="3876278"/>
            <a:ext cx="2811789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winning settings are selected using validation accuracy, not the test set.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585" y="5874445"/>
            <a:ext cx="11582110" cy="373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9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Principle:</a:t>
            </a:r>
            <a:pPr algn="l" indent="0" marL="0">
              <a:lnSpc>
                <a:spcPct val="129000"/>
              </a:lnSpc>
              <a:buNone/>
            </a:pPr>
            <a:r>
              <a:rPr lang="en-US" sz="19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search the decisions that affect learning, then keep the test set untouched.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09 · FINAL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Evaluation looks beyond a single accuracy number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34344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037556"/>
            <a:ext cx="2400240" cy="3187998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4529" y="2272506"/>
            <a:ext cx="193035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Model comparison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4529" y="3106142"/>
            <a:ext cx="1930352" cy="1259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Compare baseline and final models on validation and test sets.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67013" y="2037556"/>
            <a:ext cx="2400240" cy="3187998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1957" y="2272506"/>
            <a:ext cx="193035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Per-sign metrics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01957" y="2786162"/>
            <a:ext cx="1930352" cy="1889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Use precision, recall, and F1 to see whether performance is consistent across signs.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24442" y="2037556"/>
            <a:ext cx="2400240" cy="3187998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9386" y="2272506"/>
            <a:ext cx="193035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Confusion matrix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59386" y="2786162"/>
            <a:ext cx="1930352" cy="2204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Read the confusion matrix, weakest F1 classes, most confused pairs, and misclassified images to understand failure modes.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81870" y="2037556"/>
            <a:ext cx="2400240" cy="3187998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6814" y="2272506"/>
            <a:ext cx="193035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Misclassified images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416814" y="3106142"/>
            <a:ext cx="1930352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Understand failure modes.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2026-09-30T07:46:53Z</dcterms:created>
  <dcterms:modified xsi:type="dcterms:W3CDTF">2026-09-30T07:46:53Z</dcterms:modified>
</cp:coreProperties>
</file>